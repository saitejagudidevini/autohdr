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Geometry-Aware Lens Correction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Visual + practical view of the plumb-line loss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Problem + Scoring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Input: distorted real-estate image; output: corrected image</a:t>
            </a:r>
          </a:p>
          <a:p>
            <a:pPr>
              <a:defRPr sz="2200"/>
            </a:pPr>
            <a:r>
              <a:t>Metric is geometry-heavy (edges + straight lines + gradients)</a:t>
            </a:r>
          </a:p>
          <a:p>
            <a:pPr>
              <a:defRPr sz="2200"/>
            </a:pPr>
            <a:r>
              <a:t>A model can look good yet score poorly if lines stay curved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Where Pixel Losses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Charbonnier/SSIM/perceptual optimize visual similarity</a:t>
            </a:r>
          </a:p>
          <a:p>
            <a:pPr>
              <a:defRPr sz="2200"/>
            </a:pPr>
            <a:r>
              <a:t>They do not explicitly enforce straight lines</a:t>
            </a:r>
          </a:p>
          <a:p>
            <a:pPr>
              <a:defRPr sz="2200"/>
            </a:pPr>
            <a:r>
              <a:t>Mean-collapse risk remains if geometry is underconstrained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Key Idea: Plumb-Line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Detect structural edges from the ground-truth image</a:t>
            </a:r>
          </a:p>
          <a:p>
            <a:pPr>
              <a:defRPr sz="2200"/>
            </a:pPr>
            <a:r>
              <a:t>Warp those edges using predicted k1,k2</a:t>
            </a:r>
          </a:p>
          <a:p>
            <a:pPr>
              <a:defRPr sz="2200"/>
            </a:pPr>
            <a:r>
              <a:t>Penalize curvature in warped line segments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End-to-End Pipeline with Geometry Loss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Distorted</a:t>
            </a:r>
          </a:p>
          <a:p>
            <a:r>
              <a:t>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64592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ResNet50</a:t>
            </a:r>
          </a:p>
          <a:p>
            <a:r>
              <a:t>Predict k1,k2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64592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Kornia</a:t>
            </a:r>
          </a:p>
          <a:p>
            <a:r>
              <a:t>Undistort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Corrected</a:t>
            </a:r>
          </a:p>
          <a:p>
            <a:r>
              <a:t>Image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1828800"/>
            <a:ext cx="73152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4572000" y="1828800"/>
            <a:ext cx="73152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6766560" y="1828800"/>
            <a:ext cx="73152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91840"/>
            <a:ext cx="21945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GT Edges</a:t>
            </a:r>
          </a:p>
          <a:p>
            <a:r>
              <a:t>(Canny/Wireframe)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3291840"/>
            <a:ext cx="21945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Warp Edges</a:t>
            </a:r>
          </a:p>
          <a:p>
            <a:r>
              <a:t>with k1,k2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329184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Line Straightness</a:t>
            </a:r>
          </a:p>
          <a:p>
            <a:r>
              <a:t>Loss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1760" y="3474720"/>
            <a:ext cx="73152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029200" y="3474720"/>
            <a:ext cx="73152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3657600" y="2468880"/>
            <a:ext cx="365760" cy="64008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Straightness Loss: Visual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Warped (curved)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606040"/>
            <a:ext cx="137160" cy="137160"/>
          </a:xfrm>
          <a:prstGeom prst="ellipse">
            <a:avLst/>
          </a:prstGeom>
          <a:solidFill>
            <a:srgbClr val="DC322F"/>
          </a:solidFill>
          <a:ln>
            <a:solidFill>
              <a:srgbClr val="DC3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2377440"/>
            <a:ext cx="137160" cy="137160"/>
          </a:xfrm>
          <a:prstGeom prst="ellipse">
            <a:avLst/>
          </a:prstGeom>
          <a:solidFill>
            <a:srgbClr val="DC322F"/>
          </a:solidFill>
          <a:ln>
            <a:solidFill>
              <a:srgbClr val="DC3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240279"/>
            <a:ext cx="137160" cy="137160"/>
          </a:xfrm>
          <a:prstGeom prst="ellipse">
            <a:avLst/>
          </a:prstGeom>
          <a:solidFill>
            <a:srgbClr val="DC322F"/>
          </a:solidFill>
          <a:ln>
            <a:solidFill>
              <a:srgbClr val="DC3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2194560"/>
            <a:ext cx="137160" cy="137160"/>
          </a:xfrm>
          <a:prstGeom prst="ellipse">
            <a:avLst/>
          </a:prstGeom>
          <a:solidFill>
            <a:srgbClr val="DC322F"/>
          </a:solidFill>
          <a:ln>
            <a:solidFill>
              <a:srgbClr val="DC3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51760" y="2240279"/>
            <a:ext cx="137160" cy="137160"/>
          </a:xfrm>
          <a:prstGeom prst="ellipse">
            <a:avLst/>
          </a:prstGeom>
          <a:solidFill>
            <a:srgbClr val="DC322F"/>
          </a:solidFill>
          <a:ln>
            <a:solidFill>
              <a:srgbClr val="DC3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08960" y="2377440"/>
            <a:ext cx="137160" cy="137160"/>
          </a:xfrm>
          <a:prstGeom prst="ellipse">
            <a:avLst/>
          </a:prstGeom>
          <a:solidFill>
            <a:srgbClr val="DC322F"/>
          </a:solidFill>
          <a:ln>
            <a:solidFill>
              <a:srgbClr val="DC3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66160" y="2606040"/>
            <a:ext cx="137160" cy="137160"/>
          </a:xfrm>
          <a:prstGeom prst="ellipse">
            <a:avLst/>
          </a:prstGeom>
          <a:solidFill>
            <a:srgbClr val="DC322F"/>
          </a:solidFill>
          <a:ln>
            <a:solidFill>
              <a:srgbClr val="DC3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Warped (straight)</a:t>
            </a:r>
          </a:p>
        </p:txBody>
      </p:sp>
      <p:sp>
        <p:nvSpPr>
          <p:cNvPr id="12" name="Oval 11"/>
          <p:cNvSpPr/>
          <p:nvPr/>
        </p:nvSpPr>
        <p:spPr>
          <a:xfrm>
            <a:off x="5120640" y="2377440"/>
            <a:ext cx="137160" cy="137160"/>
          </a:xfrm>
          <a:prstGeom prst="ellipse">
            <a:avLst/>
          </a:prstGeom>
          <a:solidFill>
            <a:srgbClr val="268BD2"/>
          </a:solidFill>
          <a:ln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77840" y="2377440"/>
            <a:ext cx="137160" cy="137160"/>
          </a:xfrm>
          <a:prstGeom prst="ellipse">
            <a:avLst/>
          </a:prstGeom>
          <a:solidFill>
            <a:srgbClr val="268BD2"/>
          </a:solidFill>
          <a:ln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0" y="2377440"/>
            <a:ext cx="137160" cy="137160"/>
          </a:xfrm>
          <a:prstGeom prst="ellipse">
            <a:avLst/>
          </a:prstGeom>
          <a:solidFill>
            <a:srgbClr val="268BD2"/>
          </a:solidFill>
          <a:ln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2377440"/>
            <a:ext cx="137160" cy="137160"/>
          </a:xfrm>
          <a:prstGeom prst="ellipse">
            <a:avLst/>
          </a:prstGeom>
          <a:solidFill>
            <a:srgbClr val="268BD2"/>
          </a:solidFill>
          <a:ln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0" y="2377440"/>
            <a:ext cx="137160" cy="137160"/>
          </a:xfrm>
          <a:prstGeom prst="ellipse">
            <a:avLst/>
          </a:prstGeom>
          <a:solidFill>
            <a:srgbClr val="268BD2"/>
          </a:solidFill>
          <a:ln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06640" y="2377440"/>
            <a:ext cx="137160" cy="137160"/>
          </a:xfrm>
          <a:prstGeom prst="ellipse">
            <a:avLst/>
          </a:prstGeom>
          <a:solidFill>
            <a:srgbClr val="268BD2"/>
          </a:solidFill>
          <a:ln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0" y="2377440"/>
            <a:ext cx="137160" cy="137160"/>
          </a:xfrm>
          <a:prstGeom prst="ellipse">
            <a:avLst/>
          </a:prstGeom>
          <a:solidFill>
            <a:srgbClr val="268BD2"/>
          </a:solidFill>
          <a:ln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9184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Loss = mean distance of warped points to best-fit line</a:t>
            </a:r>
          </a:p>
          <a:p>
            <a:pPr>
              <a:defRPr sz="2200"/>
            </a:pPr>
            <a:r>
              <a:t>Curved points -&gt; higher residuals; straight points -&gt; near zero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Hybrid Loss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 = 1.0*Charbonnier + 0.2*SSIM + 0.1*Perceptual + w*Line</a:t>
            </a:r>
          </a:p>
          <a:p>
            <a:pPr>
              <a:defRPr sz="2200"/>
            </a:pPr>
            <a:r>
              <a:t>Warm up w from 0.0 -&gt; 0.3/0.7 after 5-10 epochs</a:t>
            </a:r>
          </a:p>
          <a:p>
            <a:pPr>
              <a:defRPr sz="2200"/>
            </a:pPr>
            <a:r>
              <a:t>Keep geometry loss robust with edge confidence masks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Line Loss Computation (Practical)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Canny or wireframe edges on GT image</a:t>
            </a:r>
          </a:p>
          <a:p>
            <a:pPr>
              <a:defRPr sz="2200"/>
            </a:pPr>
            <a:r>
              <a:t>Detect line segments (Hough or wireframe)</a:t>
            </a:r>
          </a:p>
          <a:p>
            <a:pPr>
              <a:defRPr sz="2200"/>
            </a:pPr>
            <a:r>
              <a:t>Sample N points, warp, fit a line, measure residuals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Training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Mask weak edges; avoid noisy gradients</a:t>
            </a:r>
          </a:p>
          <a:p>
            <a:pPr>
              <a:defRPr sz="2200"/>
            </a:pPr>
            <a:r>
              <a:t>Reduce LR once line loss ramps up</a:t>
            </a:r>
          </a:p>
          <a:p>
            <a:pPr>
              <a:defRPr sz="2200"/>
            </a:pPr>
            <a:r>
              <a:t>Use gradient clipping (1.0) after geometry loss activates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Inference Refinement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Local Hough search around predicted k1,k2</a:t>
            </a:r>
          </a:p>
          <a:p>
            <a:pPr>
              <a:defRPr sz="2200"/>
            </a:pPr>
            <a:r>
              <a:t>50-100 samples in +/-0.3 range</a:t>
            </a:r>
          </a:p>
          <a:p>
            <a:pPr>
              <a:defRPr sz="2200"/>
            </a:pPr>
            <a:r>
              <a:t>Low compute; directly boosts geometry 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Expected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931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Why It Wins</a:t>
            </a:r>
          </a:p>
          <a:p>
            <a:pPr lvl="1">
              <a:defRPr sz="2200"/>
            </a:pPr>
            <a:r>
              <a:t>Loss aligns with competition metric</a:t>
            </a:r>
          </a:p>
          <a:p>
            <a:pPr lvl="1">
              <a:defRPr sz="2200"/>
            </a:pPr>
            <a:r>
              <a:t>Stronger geometric priors reduce collapse</a:t>
            </a:r>
          </a:p>
          <a:p>
            <a:pPr lvl="1">
              <a:defRPr sz="2200"/>
            </a:pPr>
            <a:r>
              <a:t>Easy to integrate into current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931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Trade-offs</a:t>
            </a:r>
          </a:p>
          <a:p>
            <a:pPr lvl="1">
              <a:defRPr sz="2200"/>
            </a:pPr>
            <a:r>
              <a:t>More training complexity</a:t>
            </a:r>
          </a:p>
          <a:p>
            <a:pPr lvl="1">
              <a:defRPr sz="2200"/>
            </a:pPr>
            <a:r>
              <a:t>Sensitive to edge quality</a:t>
            </a:r>
          </a:p>
          <a:p>
            <a:pPr lvl="1">
              <a:defRPr sz="2200"/>
            </a:pPr>
            <a:r>
              <a:t>Need careful loss weighting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line-loss module with Kornia + Hough</a:t>
            </a:r>
          </a:p>
          <a:p>
            <a:pPr>
              <a:defRPr sz="2200"/>
            </a:pPr>
            <a:r>
              <a:t>Run 2 short experiments: pixel-only vs. hybrid</a:t>
            </a:r>
          </a:p>
          <a:p>
            <a:pPr>
              <a:defRPr sz="2200"/>
            </a:pPr>
            <a:r>
              <a:t>Measure improvement in straightness + edge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